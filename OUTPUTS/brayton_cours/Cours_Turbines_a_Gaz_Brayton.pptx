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d'environ 2 h. Les nombres de tous les exemples proviennent du script calc/brayton.py (CoolProp 8.0.0), fourni aux étudiants pour reproduction.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le cycle réel est ouvert (air aspiré, gaz brûlés rejetés). Le modèle air standard le remplace par un cycle fermé équivalent : la combustion devient un apport de chaleur isobare, l'échappement un rejet de chaleur isobare 4→1.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l'équation générale avant la forme simplifiée. Convention : q reçue &gt; 0 et w fourni &gt; 0 dans le bilan général ; ensuite on travaille en valeurs absolues w_c, w_t, q_in, q_out pour la lisibilité.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air froid permet des formules fermées ; CoolProp donne h(T,p) et s(T,p) d'après l'équation d'état de Lemmon et al. (2000), domaine de validité jusqu'à 2000 K et 2000 MPa. Entre 300 et 1400 K, cp augmente d'environ 20 %.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démonstration au tableau : avec cp constant, T2/T1 = T3/T4 = r^((γ-1)/γ), d'où η = 1 - T1/T2. Le rendement ne dépend que de r. Le travail net est maximal pour r_opt (cycle idéal, air froid) ; avec T1 = 288,15 K et T3 = 1400 K, r_opt = 15,9.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Données : p1 = 101,325 kPa, T1 = 288,15 K, r = 12, T3 = 1400 K. Air froid : τ = 12^0,2857 = 2,0339 ; T2s = 288,15 × τ ; T4s = 1400 / τ. CoolProp : h2s = h(p2, s1), h4s = h(p1, s3). La formule 1 - r^(-0,2857) donne exactement 50,83 %.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états isentropiques 2s et 4s sont calculés à entropie constante, puis on corrige l'enthalpie par le rendement isentropique. Le rendement isentropique de compression porte au dénominateur l'enthalpie réelle, celui de détente au numérateur : erreur fréquente d'inversion.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Étapes : (1) h1, s1 ; (2) h2s = h(p2, s1) puis h2 = h1 + (h2s - h1)/0,86 ; (3) h3, s3 ; (4) h4s = h(p1, s3) puis h4 = h3 - 0,89 (h3 - h4s) ; (5) bilans. Ordre de grandeur pour 100 MW nets : débit d'air = 1e8 / 318091 ≈ 314 kg/s.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Courbes calculées avec ηc = 0,86, ηt = 0,89. Pour T3 = 1400 K : w_net maximal à r ≈ 11,8 alors que η continue d'augmenter jusqu'à r ≈ 30. Les constructeurs choisissent selon l'usage : aviation (compacité, w_net) ou production d'électricité (η, souvent avec cycle combiné).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L'efficacité est définie ici côté air froid : ε = (hx - h2)/(h(T4, p2) - h2). Comme cp diffère peu entre les deux courants (même débit d'air), c'est équivalent à la définition par les températures. Pour le cycle réel de l'exemple 2, T4 = T2 pour r ≈ 20,9 (bissection).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 : q_regen = ε (h(T4, p2) - h2) ; hx = h2 + q_regen ; hy = h4 - q_regen. r = 6 : q_regen = 386,9 kJ/kg ; r = 12 : 172,2 kJ/kg. Le maximum de η du cycle régénératif est obtenu à faible r, contrairement au cycle simple. Pertes de charge de l'échangeur non prises en compte : elles réduiraient le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T0 = 288,15 K. Le bilan est fermé : résidu numérique 5.8e-11 J/kg. Attention : la destruction d'exergie de la combustion elle-même (généralement la destruction dominante dans une turbine à gaz réelle) n'apparaît pas dans le modèle air standard ; ψ_in est l'exergie reçue par l'air, pas celle du combustible.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benchmark reprend l'exemple classique de Çengel &amp; Boles (chapitre sur les cycles à gaz) : r = 8, T1 = 300 K, T3 = 1300 K, ηc = 0,80, ηt = 0,85, résolu avec les tables d'air gaz parfait. La numérotation de l'exemple varie selon l'édition : vérifier dans l'édition utilisée en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ENSEIGNANT (CoolProp) — 1) T2 = 607,8 K ; T4 = 917,5 K. 2) w_c = 322,2 ; w_t = 684,1 ; w_net = 362,0 ; q_in = 1021,6 kJ/kg ; η = 35,43 % ; bwr = 0,471. 3) ṁ = 20e6 / w_net = 55,3 kg/s. 4) T4 &gt; T2 donc régénération possible ; Tx = 841,9 K ; Ty = 686,9 K ; q_in = 768,2 kJ/kg ; η = 47,12 %. 5) air froid : T2 = 614,1 K ; T4 = 849,2 K ; w_net = 331,4 kJ/kg ; q_in = 890,3 kJ/kg ; η = 37,23 % → η surestimé, w_net sous-estimé, comme à l'exemple 1. Valeurs obtenues avec calc/brayton.py, bloc « exercice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Brayton idéal, réel et régénératif — bilans d'énergie et d'exergie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463040" cy="0"/>
          </a:xfrm>
          <a:prstGeom prst="line">
            <a:avLst/>
          </a:prstGeom>
          <a:noFill/>
          <a:ln w="508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numériques calculés et vérifiés avec CoolProp (air réel, Lemmon et al. 2000)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: Licence 3 / Master 1 / école d'ingénieurs — Thermodynamique appliquée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prérequis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l'issue de la séance, l'étudiant sait 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52120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bilans d'énergie de chaque composant d'une turbine à gaz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travaux, chaleur, rendement et back work ratio d'un cycle idéal puis réel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l'existence d'un rapport de pression optimal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l'intérêt d'un régénérateur et sa limite d'emploi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les irréversibilités par un bilan d'exergie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critiquer le modèle air standard froid face à l'air réel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280160"/>
            <a:ext cx="3017520" cy="201168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80160"/>
            <a:ext cx="28346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1er et 2e principes en système ouvert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gaz parfait, isentropique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diagramme T–s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notion d'exergie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3474720"/>
            <a:ext cx="3017520" cy="73152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Python + CoolProp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CoolProp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d'une turbine à gaz à cycle ouvert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 rot="5400000">
            <a:off x="822960" y="1554480"/>
            <a:ext cx="1463040" cy="1371600"/>
          </a:xfrm>
          <a:prstGeom prst="trapezoid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Compresseur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63240" y="1508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508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 rot="16200000">
            <a:off x="5486400" y="1554480"/>
            <a:ext cx="1463040" cy="1371600"/>
          </a:xfrm>
          <a:prstGeom prst="trapezoid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924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54480" y="3017520"/>
            <a:ext cx="6309360" cy="73152"/>
          </a:xfrm>
          <a:prstGeom prst="rect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: w_c fourni par la turbine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w_net → alternateur / hélice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286000"/>
            <a:ext cx="59436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240280" y="1920240"/>
            <a:ext cx="82296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00600" y="1920240"/>
            <a:ext cx="77724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903720" y="2286000"/>
            <a:ext cx="77724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931920" y="960120"/>
            <a:ext cx="0" cy="521208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32004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468880" y="1554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029200" y="1554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3232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02336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 (q_in)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2880" y="2423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2668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brûlés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(q_out)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: turbopropulseurs et turboréacteurs, production électrique (seule ou en cycle combiné gaz-vapeur), compression gazière, propulsion navale.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Système, hypothèses et bilan d'énergie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principe, système ouvert, régime permanent (convention : Q̇ reçue &gt; 0, Ẇ fourni &gt; 0)</a:t>
            </a:r>
            <a:endParaRPr lang="en-US" sz="1500" dirty="0"/>
          </a:p>
        </p:txBody>
      </p:sp>
      <p:pic>
        <p:nvPicPr>
          <p:cNvPr id="8" name="Image 0" descr="Bilan d'énergie en système ouv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980986" cy="4422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« air standard »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65760" y="2331720"/>
            <a:ext cx="51206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fluide de travail : air seul ; débit de combustible négligé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→ apport de chaleur isobare ; échappement → rejet isobare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ΔEc et ΔEp négligées ; compresseur et turbine adiabatiques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pertes de charge (chambre, échangeurs, filtres)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unité de masse d'air :</a:t>
            </a:r>
            <a:endParaRPr lang="en-US" sz="1500" dirty="0"/>
          </a:p>
        </p:txBody>
      </p:sp>
      <p:pic>
        <p:nvPicPr>
          <p:cNvPr id="12" name="Image 1" descr="bilan_simp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377440"/>
            <a:ext cx="2992582" cy="35536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0" y="3017520"/>
            <a:ext cx="3200400" cy="155448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76072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de validité : estimation de performances préliminaire ; l'écart au cycle réel (composition des gaz brûlés, refroidissement des aubes, pertes de charge) est de plusieurs points de rendement.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 de propriétés pour l'air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5</a:t>
            </a:r>
            <a:endParaRPr lang="en-US" sz="900" dirty="0"/>
          </a:p>
        </p:txBody>
      </p:sp>
      <p:pic>
        <p:nvPicPr>
          <p:cNvPr id="7" name="Image 0" descr="Chaleur massique cp de l'air en fonction de T : CoolProp et valeur constante 1,005 kJ/(kg·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60704"/>
            <a:ext cx="4754880" cy="30906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00584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standard froid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CoolProp « Air 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Équation d'état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 parfait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Lemmon et al. 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1,005 kJ/(kg·K) const.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cp(T, p)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const.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formules fermées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numérique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120640" y="2743200"/>
            <a:ext cx="3749040" cy="82296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21208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 : T₃ = 1400 K → l'hypothèse cp constant sous-estime h₃ − h₂ d'environ 12 %.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12064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: PropsSI('H', 'T', T, 'P', p, 'Air')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Brayton idéal : équations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1→2 compression isentropique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2→3 apport de chaleur isobare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3→4 détente isentropique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4→1 rejet de chaleur isobare</a:t>
            </a:r>
            <a:endParaRPr lang="en-US" sz="1500" dirty="0"/>
          </a:p>
        </p:txBody>
      </p:sp>
      <p:pic>
        <p:nvPicPr>
          <p:cNvPr id="8" name="Image 0" descr="trav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4600"/>
            <a:ext cx="3374967" cy="234835"/>
          </a:xfrm>
          <a:prstGeom prst="rect">
            <a:avLst/>
          </a:prstGeom>
        </p:spPr>
      </p:pic>
      <p:pic>
        <p:nvPicPr>
          <p:cNvPr id="9" name="Image 1" descr="rend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2359568" cy="3782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air froid (cp, γ constants) :</a:t>
            </a:r>
            <a:endParaRPr lang="en-US" sz="1500" dirty="0"/>
          </a:p>
        </p:txBody>
      </p:sp>
      <p:pic>
        <p:nvPicPr>
          <p:cNvPr id="11" name="Image 2" descr="eta_fro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2918183" cy="3607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net maximal pour :</a:t>
            </a:r>
            <a:endParaRPr lang="en-US" sz="1500" dirty="0"/>
          </a:p>
        </p:txBody>
      </p:sp>
      <p:pic>
        <p:nvPicPr>
          <p:cNvPr id="13" name="Image 3" descr="rop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77440"/>
            <a:ext cx="1894055" cy="4247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572000" y="3429000"/>
            <a:ext cx="4297680" cy="100584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4663440" y="3429000"/>
            <a:ext cx="4114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work ratio  bwr = w_c / w_t : souvent 40 à 60 % en turbine à gaz, contre quelques % en cycle à vapeur → la qualité du compresseur est décisive.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1 — cycle idéal : air froid vs CoolProp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p₁ = 101,325 kPa ; T₁ = 288,15 K ; r = 12 ; T₃ = 1400 K ; compression et détente isentropiques.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froid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[K]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-5,0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 [K]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688,3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+62,5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w_c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w_t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w_net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818,0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929,3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η_th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50,83 %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48,32 %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-2,51 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554480"/>
            <a:ext cx="3108960" cy="274320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0" y="1554480"/>
            <a:ext cx="292608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physique : cp croît avec T → T₄ plus élevée et q_in plus grande avec l'air réel ; le rendement baisse de 2,5 points, le travail net augmente.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air froid surestime η mais sous-estime w_net.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réel : rendements isentropiques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8</a:t>
            </a:r>
            <a:endParaRPr lang="en-US" sz="900" dirty="0"/>
          </a:p>
        </p:txBody>
      </p:sp>
      <p:pic>
        <p:nvPicPr>
          <p:cNvPr id="7" name="Image 0" descr="isentrop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2696316" cy="389036"/>
          </a:xfrm>
          <a:prstGeom prst="rect">
            <a:avLst/>
          </a:prstGeom>
        </p:spPr>
      </p:pic>
      <p:pic>
        <p:nvPicPr>
          <p:cNvPr id="8" name="Image 1" descr="etats_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3020180" cy="2937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2103120"/>
            <a:ext cx="402336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irréversibilités : frottements, chocs, jeux en bout d'aube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sgen &gt; 0 : 2 et 4 à droite de 2s et 4s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w_c augmente, w_t diminue → w_net chute fortement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diagramme, 1→2 et 3→4 en pointillés : évolutions non quasi statiques</a:t>
            </a:r>
            <a:endParaRPr lang="en-US" sz="1400" dirty="0"/>
          </a:p>
        </p:txBody>
      </p:sp>
      <p:pic>
        <p:nvPicPr>
          <p:cNvPr id="10" name="Image 2" descr="Diagramme T-s des cycles idéal et réel calculés avec CoolProp, r = 12, T3 = 1400 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245616"/>
            <a:ext cx="4480560" cy="3086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2 — cycle réel (CoolProp)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données qu'à l'exemple 1, avec  ηc = 0,86  et  ηt = 0,89.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air froid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[K]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627,2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634,6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 [K]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766,6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w_c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w_t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w_net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 [kJ/kg]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929,3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769,2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η_th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0" y="1508760"/>
            <a:ext cx="2926080" cy="265176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0" y="1508760"/>
            <a:ext cx="27432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rendements isentropiques de 86 et 89 % suffisent à faire perdre 29 % du travail net et 12,2 points de rendement.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100 MW : ṁ ≈ 314 kg/s d'air.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de r et de T₃ (cycle réel, CoolProp)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10</a:t>
            </a:r>
            <a:endParaRPr lang="en-US" sz="900" dirty="0"/>
          </a:p>
        </p:txBody>
      </p:sp>
      <p:pic>
        <p:nvPicPr>
          <p:cNvPr id="7" name="Image 0" descr="Rendement et travail net en fonction du rapport de pression pour T3 = 1200, 1400 et 1600 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14" y="868680"/>
            <a:ext cx="7641771" cy="3291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réel : η présente un maximum (contrairement au cycle idéal). Pour T₃ = 1400 K, w_net est maximal à r ≈ 11,8 → compromis rendement / compacité. Augmenter T₃ améliore les deux (limite : tenue des aubes, refroidissement).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régénératif : principe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47548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échangeur : gaz d'échappement (4→y) préchauffent l'air comprimé (2→x)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w_c et w_t inchangés ; q_in diminue → η augmente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nécessaire : T₄ &gt; T₂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intéressant à faible r et forte T₃</a:t>
            </a:r>
            <a:endParaRPr lang="en-US" sz="1500" dirty="0"/>
          </a:p>
        </p:txBody>
      </p:sp>
      <p:pic>
        <p:nvPicPr>
          <p:cNvPr id="8" name="Image 0" descr="re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0"/>
            <a:ext cx="3243959" cy="4129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3703320"/>
            <a:ext cx="4754880" cy="868680"/>
          </a:xfrm>
          <a:prstGeom prst="rect">
            <a:avLst/>
          </a:prstGeom>
          <a:solidFill>
            <a:srgbClr val="EEF2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703320"/>
            <a:ext cx="4572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(exemple 2) : T₄ = T₂ pour r ≈ 20,9.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Au-delà, l'échangeur refroidirait l'air comprimé.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760720" y="1280160"/>
            <a:ext cx="2743200" cy="2194560"/>
          </a:xfrm>
          <a:prstGeom prst="rect">
            <a:avLst/>
          </a:prstGeom>
          <a:solidFill>
            <a:srgbClr val="EEF2F6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Régénérateur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394960" y="1645920"/>
            <a:ext cx="347472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869680" y="3108960"/>
            <a:ext cx="-347472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5394960" y="914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(air comprimé)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8952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chambre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58952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(gaz turbine)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39496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échappement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3 — gain de la régénération (ε = 0,80)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ηc = 0,86 ; ηt = 0,89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6 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6 régén.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12 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12 régén.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 / T₄ [K]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509,9 / 956,2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627,2 / 825,9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T_x [K]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870,1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T_y (échapp.) [K]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956,2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667,3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w_net [kJ/kg]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 [kJ/kg]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616,0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708,4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η_th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Rendement en fonction de r, cycle simple et régénér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32256"/>
            <a:ext cx="3749040" cy="24160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65760" y="3063240"/>
            <a:ext cx="4754880" cy="86868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3063240"/>
            <a:ext cx="4572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+18,4 points à r = 6, +8,8 points à r = 12. Le cycle régénératif optimal travaille à faible rapport de pression.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65760" y="4023360"/>
            <a:ext cx="4754880" cy="502920"/>
          </a:xfrm>
          <a:prstGeom prst="rect">
            <a:avLst/>
          </a:prstGeom>
          <a:solidFill>
            <a:srgbClr val="EEF2F6"/>
          </a:solidFill>
          <a:ln w="19050">
            <a:solidFill>
              <a:srgbClr val="5B6B7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57200" y="4023360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pas de pertes de charge dans l'échangeur (à discuter).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4 — bilan d'exergie du cycle réel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13</a:t>
            </a:r>
            <a:endParaRPr lang="en-US" sz="900" dirty="0"/>
          </a:p>
        </p:txBody>
      </p:sp>
      <p:pic>
        <p:nvPicPr>
          <p:cNvPr id="7" name="Image 0" descr="exerg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3368068" cy="304080"/>
          </a:xfrm>
          <a:prstGeom prst="rect">
            <a:avLst/>
          </a:prstGeom>
        </p:spPr>
      </p:pic>
      <p:pic>
        <p:nvPicPr>
          <p:cNvPr id="8" name="Image 1" descr="eta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3316986" cy="301752"/>
          </a:xfrm>
          <a:prstGeom prst="rect">
            <a:avLst/>
          </a:prstGeom>
        </p:spPr>
      </p:pic>
      <p:pic>
        <p:nvPicPr>
          <p:cNvPr id="9" name="Image 2" descr="Bilan d'exergie en cascade de l'exempl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7" y="1828800"/>
            <a:ext cx="5306786" cy="29718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05840"/>
          <a:ext cx="3108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ψ_in (reçue)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T₀·s_gen compresseur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T₀·s_gen turbine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 gaz rejetés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4"/>
          <p:cNvSpPr/>
          <p:nvPr/>
        </p:nvSpPr>
        <p:spPr>
          <a:xfrm>
            <a:off x="5760720" y="2926080"/>
            <a:ext cx="3108960" cy="1371600"/>
          </a:xfrm>
          <a:prstGeom prst="rect">
            <a:avLst/>
          </a:prstGeom>
          <a:solidFill>
            <a:srgbClr val="EEF2F6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5852160" y="2926080"/>
            <a:ext cx="2926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η_II = 51,4 %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principale perte est l'exergie des gaz d'échappement → régénération ou cycle combiné.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résultats ont été vérifiés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47548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fermée 1 − r^(−(γ−1)/γ) = calcul pas à pas (écart &lt; 1e−12)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principe : w_net = q_in − q_out pour tous les cycles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principe : s₂ &gt; s₁ et s₄ &gt; s₃ dans les machines réelles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&lt; η_Carnot(T₁, T₃) ; bilan d'exergie fermé (résidu ≈ 1e−10)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régénération autorisée seulement si T₄ &gt; T₂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air froid / CoolProp &lt; 6 % sur η idéal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05840"/>
          <a:ext cx="3566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8, T₁ = 300 K, T₃ = 1300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CoolProp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idéal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bwr idéal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réel (0,80 / 0,85)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bwr réel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30352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Çengel &amp; Boles, tables d'air (gaz parfait, cp variable). Valeurs du manuel citées de mémoire ; la concordance à 10⁻³ avec CoolProp les corrobore, mais à contrôler dans l'édition utilisée.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303520" y="3291840"/>
            <a:ext cx="3566160" cy="64008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9496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: calc/brayton.py → 9 assertions, arrêt si l'une échoue.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fréquentes et points de vigilance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Conséquence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Remède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en °C dans r^((γ−1)/γ) ou T₃/T₁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résultats absurdes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toujours en kelvins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ηc et ηt inversés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w_c sous-estimé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au dénominateur pour le compresseur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 calculée avec ηt depuis T₄s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sur w_t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corriger les enthalpies, pas les températures (cp variable)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 = h₃ − h₂ avec régénérateur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sous-estimé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 = h₃ − h_x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régénération à r élevé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diminue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T₄ &gt; T₂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mélanger références de h, s (tables / CoolProp)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incohérentes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combiner que des différences d'une même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d'application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à gaz industrielle : p₁ = 101,325 kPa ; T₁ = 20 °C ; r = 10 ; T₃ = 1500 K ; ηc = 0,85 ; ηt = 0,90 ; puissance nette 20 MW. Hypothèses air standard ; propriétés : CoolProp « Air ».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874520"/>
            <a:ext cx="84124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Calculer T₂ et T₄ ; placer le cycle dans le diagramme T–s.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Calculer w_c, w_t, w_net, q_in, η_th et le back work ratio.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 déduire le débit d'air nécessaire.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 ajoute un régénérateur d'efficacité 0,75 : est-ce possible ? Calculer T_x, T_y et le nouveau rendement.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Refaire 1–2 avec le modèle air froid et commenter les écarts.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détaillé dans les notes du présentateur.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8288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idéal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9601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ne dépend que de r (air froid) ; w_net maximal pour r_opt.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18288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réel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158191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ηc, ηt et le back work ratio élevé dégradent fortement w_net (−29 % ici).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203704"/>
            <a:ext cx="18288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037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2203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T₃ améliore η et w_net ; r est un compromis.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18288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254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31720" y="28254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à faible r, impossible dès que T₄ ≤ T₂.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447288"/>
            <a:ext cx="18288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47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Exergie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31720" y="34472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plus grande perte (hors combustion) est l'échappement.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18288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31720" y="40690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l'air froid surestime η de 1 à 3 points ; utiliser cp(T) pour les valeurs chiffrées.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828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turbine à gaz —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A. Çengel, M. A. Boles, Thermodynamics: An Engineering Approach, McGraw-Hill (chapitre « Gas power cycles »).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I. H. Saravanamuttoo, G. F. C. Rogers, H. Cohen, P. V. Straznicky, A. C. Nix, Gas Turbine Theory, Pearson.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W. Lemmon, R. T. Jacobsen, S. G. Penoncello, D. G. Friend, « Thermodynamic properties of air and mixtures of nitrogen, argon, and oxygen from 60 to 2000 K at pressures to 2000 MPa », J. Phys. Chem. Ref. Data 29 (2000) 331–385.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H. Bell, J. Wronski, S. Quoilin, V. Lemort, « Pure and pseudo-pure fluid thermophysical property evaluation and the open-source thermophysical property library CoolProp », Ind. Eng. Chem. Res. 53 (2014) 2498–2508.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CoolProp 8.0.0, documentation : http://www.coolprop.org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Kassis et al., Scientific Agent Skills: A Library of Procedural Knowledge for Research Agents, arXiv:2609.00065 (2026) — outil de préparation des diapositives.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Cycles de turbine à gaz (Brayton)</dc:title>
  <dc:subject>PptxGenJS Presentation</dc:subject>
  <dc:creator>PptxGenJS</dc:creator>
  <cp:lastModifiedBy>PptxGenJS</cp:lastModifiedBy>
  <cp:revision>1</cp:revision>
  <dcterms:created xsi:type="dcterms:W3CDTF">2026-10-18T21:48:43Z</dcterms:created>
  <dcterms:modified xsi:type="dcterms:W3CDTF">2026-10-18T21:48:43Z</dcterms:modified>
</cp:coreProperties>
</file>